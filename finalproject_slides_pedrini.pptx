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8" d="100"/>
          <a:sy n="58" d="100"/>
        </p:scale>
        <p:origin x="988" y="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2C36-F3EC-CBF3-9AC7-0344A07E5D5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8770653-4B62-28D0-AE11-F8EF71E032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455A410-520C-2AAC-2F2F-4429B9542923}"/>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5" name="Footer Placeholder 4">
            <a:extLst>
              <a:ext uri="{FF2B5EF4-FFF2-40B4-BE49-F238E27FC236}">
                <a16:creationId xmlns:a16="http://schemas.microsoft.com/office/drawing/2014/main" id="{730ED8EB-7236-F3CB-7F74-19AAF13801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7BD92D-FCCC-C031-BC61-CDB29D927C74}"/>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1563646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FC32-B8A6-DF0F-FB13-5323933E552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03C5BF2-58D7-D3FA-785B-14244D4A019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2C6D36F-B969-0FBC-3F8C-C767A04938E3}"/>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5" name="Footer Placeholder 4">
            <a:extLst>
              <a:ext uri="{FF2B5EF4-FFF2-40B4-BE49-F238E27FC236}">
                <a16:creationId xmlns:a16="http://schemas.microsoft.com/office/drawing/2014/main" id="{2E7D688F-6CF9-6BA6-80A5-0D26903674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B54465-A606-9FAA-C2AD-CC2612A8B88A}"/>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2963318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54A1D-DB25-A81C-1D3C-DABF45CAE54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03352F0-685B-FF91-A7EA-5DB275FE73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AF2ABBD-7C5D-49DC-6BFC-BAA55399348E}"/>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5" name="Footer Placeholder 4">
            <a:extLst>
              <a:ext uri="{FF2B5EF4-FFF2-40B4-BE49-F238E27FC236}">
                <a16:creationId xmlns:a16="http://schemas.microsoft.com/office/drawing/2014/main" id="{28DB693A-FB4F-3B23-4FEF-61607DCE76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43E6CA-F89E-E1FB-B188-C655E407AD2A}"/>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3039450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F6918-95AC-1136-DB7D-463BF09F1BC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19A10F8-E6F2-5CE7-7919-19DF763A949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B27234C-4544-B95D-3BB3-DA653FAEE58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256611ED-2EE8-6DD2-CD30-3D78FA14EF3B}"/>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6" name="Footer Placeholder 5">
            <a:extLst>
              <a:ext uri="{FF2B5EF4-FFF2-40B4-BE49-F238E27FC236}">
                <a16:creationId xmlns:a16="http://schemas.microsoft.com/office/drawing/2014/main" id="{D5AAD951-BABB-245C-9EDE-A40A32ABCBD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D1F4F5-0E44-01B5-6ECE-E538ECEC1423}"/>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18473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5F5C-4C7E-FCD6-AD10-2606D061AFA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653094A-0C17-F5A2-42A3-5AF87E740D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1D5B0EE-0D4F-C0C4-6E53-F38B0D82AB4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3B3CDB6C-51AE-48E8-E484-FD8A1781F8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A68FC8D-3AFB-FFDD-4980-B16CE625149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F525BD5-7BCB-0039-554F-32ED5D380C3C}"/>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8" name="Footer Placeholder 7">
            <a:extLst>
              <a:ext uri="{FF2B5EF4-FFF2-40B4-BE49-F238E27FC236}">
                <a16:creationId xmlns:a16="http://schemas.microsoft.com/office/drawing/2014/main" id="{D857C81D-B646-B4DB-D54D-CD6DB59C102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6839063-AF3F-1514-84AF-A40BEEAF81AA}"/>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1559649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E6065-693C-ACFF-86EB-7DEE50C17AA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15472D8-9D64-5AE0-5FBF-B1A4F8683959}"/>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4" name="Footer Placeholder 3">
            <a:extLst>
              <a:ext uri="{FF2B5EF4-FFF2-40B4-BE49-F238E27FC236}">
                <a16:creationId xmlns:a16="http://schemas.microsoft.com/office/drawing/2014/main" id="{7A92D6C2-410C-BF9D-A2F1-D36D399B2B5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3C03DC6-BCB3-EBF3-3AEC-A00741F3AF36}"/>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2300072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4A2A48-4A7A-6488-6604-A2672A24154C}"/>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3" name="Footer Placeholder 2">
            <a:extLst>
              <a:ext uri="{FF2B5EF4-FFF2-40B4-BE49-F238E27FC236}">
                <a16:creationId xmlns:a16="http://schemas.microsoft.com/office/drawing/2014/main" id="{1FB214E6-2F90-9E4D-1417-D3F49754EC4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59AE93C-793B-907E-FA5C-12E0786FEC69}"/>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3864454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C7438-9244-25A7-0E19-4DB4C5E19D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AE0ED29D-216A-FE07-4C00-F3EA2DBE51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DAF74B80-95E9-152A-4D7B-C96A4E775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5EF9A94-E21C-6B53-185B-C4A629BC229C}"/>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6" name="Footer Placeholder 5">
            <a:extLst>
              <a:ext uri="{FF2B5EF4-FFF2-40B4-BE49-F238E27FC236}">
                <a16:creationId xmlns:a16="http://schemas.microsoft.com/office/drawing/2014/main" id="{AFB1554E-9173-77D8-F2ED-467697A922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9BDE4C-24D1-5DA8-835C-E19296403A2F}"/>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2446899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3439F-7070-F449-A7CD-5A12C072DA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0E060E3-99C3-40B4-DA7E-D98F5CD7DF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63A00FD-337C-0904-E905-FBD337C15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4612F6-7005-87ED-CE9F-CEC0CE3022FB}"/>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6" name="Footer Placeholder 5">
            <a:extLst>
              <a:ext uri="{FF2B5EF4-FFF2-40B4-BE49-F238E27FC236}">
                <a16:creationId xmlns:a16="http://schemas.microsoft.com/office/drawing/2014/main" id="{9531A038-2EF1-7A46-C452-D4910A78EC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928B79-4560-A85C-C017-AE49584CEA7B}"/>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3409164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D5EA9-3D3B-3C7D-F5F1-6EE5E1C7C757}"/>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13DB639-6D6C-2C0E-341F-7B671F6E0AC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F874EF9-20F0-F5C5-BD33-918309DAEAE0}"/>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5" name="Footer Placeholder 4">
            <a:extLst>
              <a:ext uri="{FF2B5EF4-FFF2-40B4-BE49-F238E27FC236}">
                <a16:creationId xmlns:a16="http://schemas.microsoft.com/office/drawing/2014/main" id="{CE2795C9-23ED-8727-2953-8B17E4553E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0F2FBE-E091-217C-A91C-D728D5854E0B}"/>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3782568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CA86C9-FAAD-1C60-0E0A-C9FDB7FF09C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BC554E9-DC6E-87C8-73A0-E5F2A16632B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884E353-AD6C-71A6-A6E1-F265FEB58243}"/>
              </a:ext>
            </a:extLst>
          </p:cNvPr>
          <p:cNvSpPr>
            <a:spLocks noGrp="1"/>
          </p:cNvSpPr>
          <p:nvPr>
            <p:ph type="dt" sz="half" idx="10"/>
          </p:nvPr>
        </p:nvSpPr>
        <p:spPr/>
        <p:txBody>
          <a:bodyPr/>
          <a:lstStyle/>
          <a:p>
            <a:fld id="{6997ED0C-8D02-4DDB-BEEE-8B4DC1F8B00B}" type="datetimeFigureOut">
              <a:rPr lang="en-GB" smtClean="0"/>
              <a:t>15/04/2024</a:t>
            </a:fld>
            <a:endParaRPr lang="en-GB"/>
          </a:p>
        </p:txBody>
      </p:sp>
      <p:sp>
        <p:nvSpPr>
          <p:cNvPr id="5" name="Footer Placeholder 4">
            <a:extLst>
              <a:ext uri="{FF2B5EF4-FFF2-40B4-BE49-F238E27FC236}">
                <a16:creationId xmlns:a16="http://schemas.microsoft.com/office/drawing/2014/main" id="{852B9BA6-D2A5-E295-2BEB-18D92F29BA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3CEC44-B4B7-8608-818E-6FBF2F6E1B83}"/>
              </a:ext>
            </a:extLst>
          </p:cNvPr>
          <p:cNvSpPr>
            <a:spLocks noGrp="1"/>
          </p:cNvSpPr>
          <p:nvPr>
            <p:ph type="sldNum" sz="quarter" idx="12"/>
          </p:nvPr>
        </p:nvSpPr>
        <p:spPr/>
        <p:txBody>
          <a:bodyPr/>
          <a:lstStyle/>
          <a:p>
            <a:fld id="{DF48992B-669D-4310-A9D1-39BD242BA087}" type="slidenum">
              <a:rPr lang="en-GB" smtClean="0"/>
              <a:t>‹#›</a:t>
            </a:fld>
            <a:endParaRPr lang="en-GB"/>
          </a:p>
        </p:txBody>
      </p:sp>
    </p:spTree>
    <p:extLst>
      <p:ext uri="{BB962C8B-B14F-4D97-AF65-F5344CB8AC3E}">
        <p14:creationId xmlns:p14="http://schemas.microsoft.com/office/powerpoint/2010/main" val="742196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191411-A993-F3FF-839B-CB862BE55E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70B329F-5653-5D32-9AF7-92B5C528B9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5070B5-5422-C3D0-3B06-713104F072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97ED0C-8D02-4DDB-BEEE-8B4DC1F8B00B}" type="datetimeFigureOut">
              <a:rPr lang="en-GB" smtClean="0"/>
              <a:t>15/04/2024</a:t>
            </a:fld>
            <a:endParaRPr lang="en-GB"/>
          </a:p>
        </p:txBody>
      </p:sp>
      <p:sp>
        <p:nvSpPr>
          <p:cNvPr id="5" name="Footer Placeholder 4">
            <a:extLst>
              <a:ext uri="{FF2B5EF4-FFF2-40B4-BE49-F238E27FC236}">
                <a16:creationId xmlns:a16="http://schemas.microsoft.com/office/drawing/2014/main" id="{AA3856A7-4E82-C27F-55B2-B97CBE1201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B90E59E-DAF4-0FC0-4BD7-1ADF1ABBCF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48992B-669D-4310-A9D1-39BD242BA087}" type="slidenum">
              <a:rPr lang="en-GB" smtClean="0"/>
              <a:t>‹#›</a:t>
            </a:fld>
            <a:endParaRPr lang="en-GB"/>
          </a:p>
        </p:txBody>
      </p:sp>
    </p:spTree>
    <p:extLst>
      <p:ext uri="{BB962C8B-B14F-4D97-AF65-F5344CB8AC3E}">
        <p14:creationId xmlns:p14="http://schemas.microsoft.com/office/powerpoint/2010/main" val="643877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3BC3-098B-7D40-14FD-4018582E3FA9}"/>
              </a:ext>
            </a:extLst>
          </p:cNvPr>
          <p:cNvSpPr>
            <a:spLocks noGrp="1"/>
          </p:cNvSpPr>
          <p:nvPr>
            <p:ph type="ctrTitle"/>
          </p:nvPr>
        </p:nvSpPr>
        <p:spPr>
          <a:xfrm>
            <a:off x="1090670" y="725756"/>
            <a:ext cx="10010660" cy="2387600"/>
          </a:xfrm>
        </p:spPr>
        <p:txBody>
          <a:bodyPr>
            <a:normAutofit fontScale="90000"/>
          </a:bodyPr>
          <a:lstStyle/>
          <a:p>
            <a:r>
              <a:rPr lang="en-US" b="1" dirty="0"/>
              <a:t>ST8003 Linear Regression, 2023-24 </a:t>
            </a:r>
            <a:br>
              <a:rPr lang="en-US" b="1" dirty="0"/>
            </a:br>
            <a:r>
              <a:rPr lang="en-US" b="1" dirty="0"/>
              <a:t>Final Project</a:t>
            </a:r>
            <a:endParaRPr lang="en-GB" b="1" dirty="0"/>
          </a:p>
        </p:txBody>
      </p:sp>
      <p:sp>
        <p:nvSpPr>
          <p:cNvPr id="3" name="Subtitle 2">
            <a:extLst>
              <a:ext uri="{FF2B5EF4-FFF2-40B4-BE49-F238E27FC236}">
                <a16:creationId xmlns:a16="http://schemas.microsoft.com/office/drawing/2014/main" id="{BBA8FC68-CF1D-FF12-954E-2DAD2FF718DF}"/>
              </a:ext>
            </a:extLst>
          </p:cNvPr>
          <p:cNvSpPr>
            <a:spLocks noGrp="1"/>
          </p:cNvSpPr>
          <p:nvPr>
            <p:ph type="subTitle" idx="1"/>
          </p:nvPr>
        </p:nvSpPr>
        <p:spPr/>
        <p:txBody>
          <a:bodyPr/>
          <a:lstStyle/>
          <a:p>
            <a:r>
              <a:rPr lang="en-US" dirty="0"/>
              <a:t>Lorenzo Pedrini</a:t>
            </a:r>
          </a:p>
          <a:p>
            <a:r>
              <a:rPr lang="en-US" dirty="0"/>
              <a:t>Student number: 20337113</a:t>
            </a:r>
          </a:p>
          <a:p>
            <a:r>
              <a:rPr lang="en-US"/>
              <a:t>Date: 14/04/2024</a:t>
            </a:r>
            <a:endParaRPr lang="en-GB"/>
          </a:p>
        </p:txBody>
      </p:sp>
    </p:spTree>
    <p:extLst>
      <p:ext uri="{BB962C8B-B14F-4D97-AF65-F5344CB8AC3E}">
        <p14:creationId xmlns:p14="http://schemas.microsoft.com/office/powerpoint/2010/main" val="3217586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057330-1504-85EE-3B52-6BFCDFEBEB21}"/>
              </a:ext>
            </a:extLst>
          </p:cNvPr>
          <p:cNvSpPr txBox="1"/>
          <p:nvPr/>
        </p:nvSpPr>
        <p:spPr>
          <a:xfrm>
            <a:off x="1996437" y="479599"/>
            <a:ext cx="8199120" cy="477054"/>
          </a:xfrm>
          <a:prstGeom prst="rect">
            <a:avLst/>
          </a:prstGeom>
          <a:noFill/>
        </p:spPr>
        <p:txBody>
          <a:bodyPr wrap="square" rtlCol="0">
            <a:spAutoFit/>
          </a:bodyPr>
          <a:lstStyle/>
          <a:p>
            <a:pPr algn="ctr"/>
            <a:r>
              <a:rPr lang="en-US" sz="2500" b="1" dirty="0"/>
              <a:t>Burn Injury Case Study</a:t>
            </a:r>
            <a:endParaRPr lang="en-GB" sz="2500" b="1" dirty="0"/>
          </a:p>
        </p:txBody>
      </p:sp>
      <p:sp>
        <p:nvSpPr>
          <p:cNvPr id="5" name="TextBox 4">
            <a:extLst>
              <a:ext uri="{FF2B5EF4-FFF2-40B4-BE49-F238E27FC236}">
                <a16:creationId xmlns:a16="http://schemas.microsoft.com/office/drawing/2014/main" id="{6558B82E-A420-956C-850B-84ED469A45BF}"/>
              </a:ext>
            </a:extLst>
          </p:cNvPr>
          <p:cNvSpPr txBox="1"/>
          <p:nvPr/>
        </p:nvSpPr>
        <p:spPr>
          <a:xfrm>
            <a:off x="696225" y="1117600"/>
            <a:ext cx="10799545" cy="1200329"/>
          </a:xfrm>
          <a:prstGeom prst="rect">
            <a:avLst/>
          </a:prstGeom>
          <a:noFill/>
        </p:spPr>
        <p:txBody>
          <a:bodyPr wrap="square" rtlCol="0">
            <a:spAutoFit/>
          </a:bodyPr>
          <a:lstStyle/>
          <a:p>
            <a:pPr algn="just"/>
            <a:r>
              <a:rPr lang="en-US" sz="1800" dirty="0">
                <a:effectLst/>
                <a:latin typeface="Calibri" panose="020F0502020204030204" pitchFamily="34" charset="0"/>
                <a:ea typeface="Calibri" panose="020F0502020204030204" pitchFamily="34" charset="0"/>
                <a:cs typeface="Arial" panose="020B0604020202020204" pitchFamily="34" charset="0"/>
              </a:rPr>
              <a:t>With this report we would like to assess the problematic of an unusual high rate of fatalities per burn injuries. Inefficient hospital care is considered a possible responsible for the problem. The investigation is necessary to identify risk factors in order to correctly allocate patients to emergency care when needed in order to avoid fatalities.</a:t>
            </a:r>
            <a:endParaRPr lang="en-US"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C7603FA-2DCB-234B-1199-5947CF7D8CFF}"/>
                  </a:ext>
                </a:extLst>
              </p:cNvPr>
              <p:cNvSpPr txBox="1"/>
              <p:nvPr/>
            </p:nvSpPr>
            <p:spPr>
              <a:xfrm>
                <a:off x="1023486" y="2639824"/>
                <a:ext cx="10145027" cy="818429"/>
              </a:xfrm>
              <a:prstGeom prst="rect">
                <a:avLst/>
              </a:prstGeom>
              <a:noFill/>
            </p:spPr>
            <p:txBody>
              <a:bodyPr wrap="square">
                <a:spAutoFit/>
              </a:bodyPr>
              <a:lstStyle/>
              <a:p>
                <a:pPr marL="0" marR="0" algn="ctr">
                  <a:lnSpc>
                    <a:spcPct val="107000"/>
                  </a:lnSpc>
                  <a:spcBef>
                    <a:spcPts val="0"/>
                  </a:spcBef>
                  <a:spcAft>
                    <a:spcPts val="800"/>
                  </a:spcAft>
                </a:pPr>
                <a14:m>
                  <m:oMath xmlns:m="http://schemas.openxmlformats.org/officeDocument/2006/math">
                    <m:func>
                      <m:funcPr>
                        <m:ctrlPr>
                          <a:rPr lang="en-GB" sz="1800" i="1" kern="100" smtClean="0">
                            <a:effectLst/>
                            <a:latin typeface="Cambria Math" panose="02040503050406030204" pitchFamily="18" charset="0"/>
                            <a:ea typeface="Calibri" panose="020F0502020204030204" pitchFamily="34" charset="0"/>
                            <a:cs typeface="Arial" panose="020B0604020202020204" pitchFamily="34" charset="0"/>
                          </a:rPr>
                        </m:ctrlPr>
                      </m:funcPr>
                      <m:fName>
                        <m:r>
                          <m:rPr>
                            <m:sty m:val="p"/>
                          </m:rPr>
                          <a:rPr lang="en-US" sz="1800" kern="100">
                            <a:effectLst/>
                            <a:latin typeface="Cambria Math" panose="02040503050406030204" pitchFamily="18" charset="0"/>
                            <a:ea typeface="Calibri" panose="020F0502020204030204" pitchFamily="34" charset="0"/>
                            <a:cs typeface="Arial" panose="020B0604020202020204" pitchFamily="34" charset="0"/>
                          </a:rPr>
                          <m:t>log</m:t>
                        </m:r>
                      </m:fName>
                      <m:e>
                        <m:d>
                          <m:dPr>
                            <m:ctrlPr>
                              <a:rPr lang="en-GB" sz="1800" i="1" kern="100">
                                <a:effectLst/>
                                <a:latin typeface="Cambria Math" panose="02040503050406030204" pitchFamily="18" charset="0"/>
                                <a:ea typeface="Calibri" panose="020F0502020204030204" pitchFamily="34" charset="0"/>
                                <a:cs typeface="Arial" panose="020B0604020202020204" pitchFamily="34" charset="0"/>
                              </a:rPr>
                            </m:ctrlPr>
                          </m:dPr>
                          <m:e>
                            <m:f>
                              <m:fPr>
                                <m:ctrlPr>
                                  <a:rPr lang="en-GB" sz="1800" i="1" kern="100">
                                    <a:effectLst/>
                                    <a:latin typeface="Cambria Math" panose="02040503050406030204" pitchFamily="18" charset="0"/>
                                    <a:ea typeface="Calibri" panose="020F0502020204030204" pitchFamily="34" charset="0"/>
                                    <a:cs typeface="Arial" panose="020B0604020202020204" pitchFamily="34" charset="0"/>
                                  </a:rPr>
                                </m:ctrlPr>
                              </m:fPr>
                              <m:num>
                                <m:r>
                                  <a:rPr lang="en-US" sz="1800" b="1" i="1" kern="100">
                                    <a:effectLst/>
                                    <a:latin typeface="Cambria Math" panose="02040503050406030204" pitchFamily="18" charset="0"/>
                                    <a:ea typeface="Calibri" panose="020F0502020204030204" pitchFamily="34" charset="0"/>
                                    <a:cs typeface="Arial" panose="020B0604020202020204" pitchFamily="34" charset="0"/>
                                  </a:rPr>
                                  <m:t>𝝅</m:t>
                                </m:r>
                              </m:num>
                              <m:den>
                                <m:r>
                                  <a:rPr lang="en-US" sz="1800" i="1" kern="100">
                                    <a:effectLst/>
                                    <a:latin typeface="Cambria Math" panose="02040503050406030204" pitchFamily="18" charset="0"/>
                                    <a:ea typeface="Calibri" panose="020F0502020204030204" pitchFamily="34" charset="0"/>
                                    <a:cs typeface="Arial" panose="020B0604020202020204" pitchFamily="34" charset="0"/>
                                  </a:rPr>
                                  <m:t>1−</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𝝅</m:t>
                                </m:r>
                              </m:den>
                            </m:f>
                          </m:e>
                        </m:d>
                      </m:e>
                    </m:func>
                    <m:r>
                      <a:rPr lang="en-US" sz="1800" i="1" kern="100">
                        <a:effectLst/>
                        <a:latin typeface="Cambria Math" panose="02040503050406030204" pitchFamily="18" charset="0"/>
                        <a:ea typeface="Calibri" panose="020F0502020204030204" pitchFamily="34" charset="0"/>
                        <a:cs typeface="Arial" panose="020B0604020202020204" pitchFamily="34" charset="0"/>
                      </a:rPr>
                      <m:t>= −10.924+0.121∗ </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𝒂𝒈𝒆</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i="1" kern="100">
                        <a:effectLst/>
                        <a:latin typeface="Cambria Math" panose="02040503050406030204" pitchFamily="18" charset="0"/>
                        <a:ea typeface="Calibri" panose="020F0502020204030204" pitchFamily="34" charset="0"/>
                        <a:cs typeface="Arial" panose="020B0604020202020204" pitchFamily="34" charset="0"/>
                      </a:rPr>
                      <m:t>0.273</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𝒓𝒂𝒄𝒆</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i="1" kern="100">
                        <a:effectLst/>
                        <a:latin typeface="Cambria Math" panose="02040503050406030204" pitchFamily="18" charset="0"/>
                        <a:ea typeface="Calibri" panose="020F0502020204030204" pitchFamily="34" charset="0"/>
                        <a:cs typeface="Arial" panose="020B0604020202020204" pitchFamily="34" charset="0"/>
                      </a:rPr>
                      <m:t>0.151</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𝒂𝒓𝒆𝒂</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i="1" kern="100">
                        <a:effectLst/>
                        <a:latin typeface="Cambria Math" panose="02040503050406030204" pitchFamily="18" charset="0"/>
                        <a:ea typeface="Calibri" panose="020F0502020204030204" pitchFamily="34" charset="0"/>
                        <a:cs typeface="Arial" panose="020B0604020202020204" pitchFamily="34" charset="0"/>
                      </a:rPr>
                      <m:t>6.801</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𝒊𝒏𝒉𝒂𝒍</m:t>
                    </m:r>
                    <m:r>
                      <a:rPr lang="en-US" sz="1800" i="1" kern="100">
                        <a:effectLst/>
                        <a:latin typeface="Cambria Math" panose="02040503050406030204" pitchFamily="18" charset="0"/>
                        <a:ea typeface="Calibri" panose="020F0502020204030204" pitchFamily="34" charset="0"/>
                        <a:cs typeface="Arial" panose="020B0604020202020204" pitchFamily="34" charset="0"/>
                      </a:rPr>
                      <m:t> −0.054∗</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𝒓𝒂𝒄𝒆</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𝒂𝒓𝒆𝒂</m:t>
                    </m:r>
                    <m:r>
                      <a:rPr lang="en-US" sz="1800" i="1" kern="100">
                        <a:effectLst/>
                        <a:latin typeface="Cambria Math" panose="02040503050406030204" pitchFamily="18" charset="0"/>
                        <a:ea typeface="Calibri" panose="020F0502020204030204" pitchFamily="34" charset="0"/>
                        <a:cs typeface="Arial" panose="020B0604020202020204" pitchFamily="34" charset="0"/>
                      </a:rPr>
                      <m:t>−0.074∗</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𝒂𝒈𝒆</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𝒊𝒏𝒉𝒂𝒍</m:t>
                    </m:r>
                    <m:r>
                      <a:rPr lang="en-US" sz="1800" i="1" kern="100">
                        <a:effectLst/>
                        <a:latin typeface="Cambria Math" panose="02040503050406030204" pitchFamily="18" charset="0"/>
                        <a:ea typeface="Calibri" panose="020F0502020204030204" pitchFamily="34" charset="0"/>
                        <a:cs typeface="Arial" panose="020B0604020202020204" pitchFamily="34" charset="0"/>
                      </a:rPr>
                      <m:t>−0.045∗</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𝒂𝒓𝒆𝒂</m:t>
                    </m:r>
                    <m:r>
                      <a:rPr lang="en-US" sz="1800" b="1" i="1" kern="100">
                        <a:effectLst/>
                        <a:latin typeface="Cambria Math" panose="02040503050406030204" pitchFamily="18" charset="0"/>
                        <a:ea typeface="Calibri" panose="020F0502020204030204" pitchFamily="34" charset="0"/>
                        <a:cs typeface="Arial" panose="020B0604020202020204" pitchFamily="34" charset="0"/>
                      </a:rPr>
                      <m:t>∗</m:t>
                    </m:r>
                    <m:r>
                      <a:rPr lang="en-US" sz="1800" b="1" i="1" kern="100">
                        <a:effectLst/>
                        <a:latin typeface="Cambria Math" panose="02040503050406030204" pitchFamily="18" charset="0"/>
                        <a:ea typeface="Calibri" panose="020F0502020204030204" pitchFamily="34" charset="0"/>
                        <a:cs typeface="Arial" panose="020B0604020202020204" pitchFamily="34" charset="0"/>
                      </a:rPr>
                      <m:t>𝒊𝒏𝒉𝒂𝒍</m:t>
                    </m:r>
                  </m:oMath>
                </a14:m>
                <a:r>
                  <a:rPr lang="en-US" sz="1800" b="1" kern="100" dirty="0">
                    <a:effectLst/>
                    <a:latin typeface="Calibri" panose="020F0502020204030204" pitchFamily="34" charset="0"/>
                    <a:ea typeface="Times New Roman" panose="02020603050405020304" pitchFamily="18" charset="0"/>
                    <a:cs typeface="Arial" panose="020B0604020202020204" pitchFamily="34" charset="0"/>
                  </a:rPr>
                  <a:t>  </a:t>
                </a:r>
                <a:endParaRPr lang="en-GB" sz="3200" kern="100" dirty="0">
                  <a:effectLst/>
                  <a:latin typeface="Calibri" panose="020F0502020204030204" pitchFamily="34" charset="0"/>
                  <a:ea typeface="Calibri" panose="020F0502020204030204" pitchFamily="34" charset="0"/>
                  <a:cs typeface="Arial" panose="020B0604020202020204" pitchFamily="34" charset="0"/>
                </a:endParaRPr>
              </a:p>
            </p:txBody>
          </p:sp>
        </mc:Choice>
        <mc:Fallback>
          <p:sp>
            <p:nvSpPr>
              <p:cNvPr id="7" name="TextBox 6">
                <a:extLst>
                  <a:ext uri="{FF2B5EF4-FFF2-40B4-BE49-F238E27FC236}">
                    <a16:creationId xmlns:a16="http://schemas.microsoft.com/office/drawing/2014/main" id="{3C7603FA-2DCB-234B-1199-5947CF7D8CFF}"/>
                  </a:ext>
                </a:extLst>
              </p:cNvPr>
              <p:cNvSpPr txBox="1">
                <a:spLocks noRot="1" noChangeAspect="1" noMove="1" noResize="1" noEditPoints="1" noAdjustHandles="1" noChangeArrowheads="1" noChangeShapeType="1" noTextEdit="1"/>
              </p:cNvSpPr>
              <p:nvPr/>
            </p:nvSpPr>
            <p:spPr>
              <a:xfrm>
                <a:off x="1023486" y="2639824"/>
                <a:ext cx="10145027" cy="818429"/>
              </a:xfrm>
              <a:prstGeom prst="rect">
                <a:avLst/>
              </a:prstGeom>
              <a:blipFill>
                <a:blip r:embed="rId2"/>
                <a:stretch>
                  <a:fillRect b="-2985"/>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C2B0FB79-0B74-2FA9-0A15-0B4F4FD71C87}"/>
              </a:ext>
            </a:extLst>
          </p:cNvPr>
          <p:cNvSpPr txBox="1"/>
          <p:nvPr/>
        </p:nvSpPr>
        <p:spPr>
          <a:xfrm>
            <a:off x="4286449" y="2270492"/>
            <a:ext cx="3619099" cy="369332"/>
          </a:xfrm>
          <a:prstGeom prst="rect">
            <a:avLst/>
          </a:prstGeom>
          <a:noFill/>
        </p:spPr>
        <p:txBody>
          <a:bodyPr wrap="square" rtlCol="0">
            <a:spAutoFit/>
          </a:bodyPr>
          <a:lstStyle/>
          <a:p>
            <a:pPr algn="ctr"/>
            <a:r>
              <a:rPr lang="en-US" b="1" dirty="0"/>
              <a:t>Logistic regression model</a:t>
            </a:r>
            <a:endParaRPr lang="en-GB" b="1" dirty="0"/>
          </a:p>
        </p:txBody>
      </p:sp>
      <p:sp>
        <p:nvSpPr>
          <p:cNvPr id="9" name="TextBox 8">
            <a:extLst>
              <a:ext uri="{FF2B5EF4-FFF2-40B4-BE49-F238E27FC236}">
                <a16:creationId xmlns:a16="http://schemas.microsoft.com/office/drawing/2014/main" id="{C352AA48-75FC-76F1-25E7-A7BF9F38B315}"/>
              </a:ext>
            </a:extLst>
          </p:cNvPr>
          <p:cNvSpPr txBox="1"/>
          <p:nvPr/>
        </p:nvSpPr>
        <p:spPr>
          <a:xfrm>
            <a:off x="696225" y="3780148"/>
            <a:ext cx="10799544" cy="1754326"/>
          </a:xfrm>
          <a:prstGeom prst="rect">
            <a:avLst/>
          </a:prstGeom>
          <a:noFill/>
        </p:spPr>
        <p:txBody>
          <a:bodyPr wrap="square" rtlCol="0">
            <a:spAutoFit/>
          </a:bodyPr>
          <a:lstStyle/>
          <a:p>
            <a:pPr algn="just"/>
            <a:r>
              <a:rPr lang="en-US" sz="1800" kern="100" dirty="0">
                <a:effectLst/>
                <a:latin typeface="Calibri" panose="020F0502020204030204" pitchFamily="34" charset="0"/>
                <a:ea typeface="Calibri" panose="020F0502020204030204" pitchFamily="34" charset="0"/>
                <a:cs typeface="Arial" panose="020B0604020202020204" pitchFamily="34" charset="0"/>
              </a:rPr>
              <a:t>As the result of this statistical analysis, we can see the most relevant influence factor that explains the fatality of a burn accident is the inhalation of fumes. Immediate medical attention should be given for patients presenting this risk factor. Increasing age and increasing burn area are both correlated to an increased probability of fatality. Priority medical attention should be given to older patients and to patients with a high percentage area of the body covered by burns. </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GB" dirty="0"/>
          </a:p>
        </p:txBody>
      </p:sp>
      <p:sp>
        <p:nvSpPr>
          <p:cNvPr id="10" name="TextBox 9">
            <a:extLst>
              <a:ext uri="{FF2B5EF4-FFF2-40B4-BE49-F238E27FC236}">
                <a16:creationId xmlns:a16="http://schemas.microsoft.com/office/drawing/2014/main" id="{C720EEA4-3534-C8E9-7AF3-B3C9E36A1C98}"/>
              </a:ext>
            </a:extLst>
          </p:cNvPr>
          <p:cNvSpPr txBox="1"/>
          <p:nvPr/>
        </p:nvSpPr>
        <p:spPr>
          <a:xfrm>
            <a:off x="696225" y="5534474"/>
            <a:ext cx="10141821" cy="923330"/>
          </a:xfrm>
          <a:prstGeom prst="rect">
            <a:avLst/>
          </a:prstGeom>
          <a:noFill/>
        </p:spPr>
        <p:txBody>
          <a:bodyPr wrap="square" rtlCol="0">
            <a:spAutoFit/>
          </a:bodyPr>
          <a:lstStyle/>
          <a:p>
            <a:pPr algn="ctr"/>
            <a:r>
              <a:rPr lang="en-US" b="1" dirty="0"/>
              <a:t>Model Performance: </a:t>
            </a:r>
            <a:r>
              <a:rPr lang="en-IE" kern="100" dirty="0">
                <a:latin typeface="Calibri" panose="020F0502020204030204" pitchFamily="34" charset="0"/>
                <a:ea typeface="Calibri" panose="020F0502020204030204" pitchFamily="34" charset="0"/>
                <a:cs typeface="Arial" panose="020B0604020202020204" pitchFamily="34" charset="0"/>
              </a:rPr>
              <a:t>P</a:t>
            </a:r>
            <a:r>
              <a:rPr lang="en-IE" sz="1800" kern="100" dirty="0">
                <a:effectLst/>
                <a:latin typeface="Calibri" panose="020F0502020204030204" pitchFamily="34" charset="0"/>
                <a:ea typeface="Calibri" panose="020F0502020204030204" pitchFamily="34" charset="0"/>
                <a:cs typeface="Arial" panose="020B0604020202020204" pitchFamily="34" charset="0"/>
              </a:rPr>
              <a:t>erformance</a:t>
            </a:r>
            <a:r>
              <a:rPr lang="en-IE" sz="1800" b="1" kern="100" dirty="0">
                <a:effectLst/>
                <a:latin typeface="Calibri" panose="020F0502020204030204" pitchFamily="34" charset="0"/>
                <a:ea typeface="Calibri" panose="020F0502020204030204" pitchFamily="34" charset="0"/>
                <a:cs typeface="Arial" panose="020B0604020202020204" pitchFamily="34" charset="0"/>
              </a:rPr>
              <a:t> </a:t>
            </a:r>
            <a:r>
              <a:rPr lang="en-IE" sz="1800" kern="100" dirty="0">
                <a:effectLst/>
                <a:latin typeface="Calibri" panose="020F0502020204030204" pitchFamily="34" charset="0"/>
                <a:ea typeface="Calibri" panose="020F0502020204030204" pitchFamily="34" charset="0"/>
                <a:cs typeface="Arial" panose="020B0604020202020204" pitchFamily="34" charset="0"/>
              </a:rPr>
              <a:t>was evaluated using the confusion matrix.</a:t>
            </a:r>
          </a:p>
          <a:p>
            <a:pPr algn="ctr"/>
            <a:r>
              <a:rPr lang="en-IE" sz="1800" kern="100" dirty="0">
                <a:effectLst/>
                <a:latin typeface="Calibri" panose="020F0502020204030204" pitchFamily="34" charset="0"/>
                <a:ea typeface="Calibri" panose="020F0502020204030204" pitchFamily="34" charset="0"/>
                <a:cs typeface="Arial" panose="020B0604020202020204" pitchFamily="34" charset="0"/>
              </a:rPr>
              <a:t>Forecasting accuracy of </a:t>
            </a:r>
            <a:r>
              <a:rPr lang="en-IE" sz="1800" b="1" kern="100" dirty="0">
                <a:effectLst/>
                <a:latin typeface="Calibri" panose="020F0502020204030204" pitchFamily="34" charset="0"/>
                <a:ea typeface="Calibri" panose="020F0502020204030204" pitchFamily="34" charset="0"/>
                <a:cs typeface="Arial" panose="020B0604020202020204" pitchFamily="34" charset="0"/>
              </a:rPr>
              <a:t>91%</a:t>
            </a:r>
            <a:r>
              <a:rPr lang="en-IE" sz="1800" kern="100" dirty="0">
                <a:effectLst/>
                <a:latin typeface="Calibri" panose="020F0502020204030204" pitchFamily="34" charset="0"/>
                <a:ea typeface="Calibri" panose="020F0502020204030204" pitchFamily="34" charset="0"/>
                <a:cs typeface="Arial" panose="020B0604020202020204" pitchFamily="34" charset="0"/>
              </a:rPr>
              <a:t>.</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GB" b="1" dirty="0"/>
          </a:p>
        </p:txBody>
      </p:sp>
    </p:spTree>
    <p:extLst>
      <p:ext uri="{BB962C8B-B14F-4D97-AF65-F5344CB8AC3E}">
        <p14:creationId xmlns:p14="http://schemas.microsoft.com/office/powerpoint/2010/main" val="2473620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CE4047-73D7-3FD7-1357-FDC70AF9336A}"/>
              </a:ext>
            </a:extLst>
          </p:cNvPr>
          <p:cNvSpPr txBox="1"/>
          <p:nvPr/>
        </p:nvSpPr>
        <p:spPr>
          <a:xfrm>
            <a:off x="3270983" y="500514"/>
            <a:ext cx="5650029" cy="477054"/>
          </a:xfrm>
          <a:prstGeom prst="rect">
            <a:avLst/>
          </a:prstGeom>
          <a:noFill/>
        </p:spPr>
        <p:txBody>
          <a:bodyPr wrap="square" rtlCol="0">
            <a:spAutoFit/>
          </a:bodyPr>
          <a:lstStyle/>
          <a:p>
            <a:pPr algn="ctr"/>
            <a:r>
              <a:rPr lang="en-US" sz="2500" b="1" dirty="0"/>
              <a:t>School score case study</a:t>
            </a:r>
            <a:endParaRPr lang="en-GB" sz="2500" b="1" dirty="0"/>
          </a:p>
        </p:txBody>
      </p:sp>
      <p:sp>
        <p:nvSpPr>
          <p:cNvPr id="5" name="TextBox 4">
            <a:extLst>
              <a:ext uri="{FF2B5EF4-FFF2-40B4-BE49-F238E27FC236}">
                <a16:creationId xmlns:a16="http://schemas.microsoft.com/office/drawing/2014/main" id="{3C09C82B-2C58-146D-12CF-213E9DBE666B}"/>
              </a:ext>
            </a:extLst>
          </p:cNvPr>
          <p:cNvSpPr txBox="1"/>
          <p:nvPr/>
        </p:nvSpPr>
        <p:spPr>
          <a:xfrm>
            <a:off x="1076423" y="1956562"/>
            <a:ext cx="10039148" cy="1405513"/>
          </a:xfrm>
          <a:prstGeom prst="rect">
            <a:avLst/>
          </a:prstGeom>
          <a:noFill/>
        </p:spPr>
        <p:txBody>
          <a:bodyPr wrap="square" rtlCol="0">
            <a:spAutoFit/>
          </a:bodyPr>
          <a:lstStyle/>
          <a:p>
            <a:pPr algn="ctr"/>
            <a:r>
              <a:rPr lang="en-US" b="1" dirty="0"/>
              <a:t>Linear </a:t>
            </a:r>
            <a:r>
              <a:rPr lang="en-US" b="1" dirty="0" err="1"/>
              <a:t>Regresion</a:t>
            </a:r>
            <a:r>
              <a:rPr lang="en-US" b="1" dirty="0"/>
              <a:t> Models:</a:t>
            </a:r>
          </a:p>
          <a:p>
            <a:pPr marL="0" marR="0" algn="ctr">
              <a:spcBef>
                <a:spcPts val="0"/>
              </a:spcBef>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score1 </a:t>
            </a:r>
            <a:r>
              <a:rPr lang="en-US" sz="1800" kern="100" dirty="0">
                <a:effectLst/>
                <a:latin typeface="Calibri" panose="020F0502020204030204" pitchFamily="34" charset="0"/>
                <a:ea typeface="Calibri" panose="020F0502020204030204" pitchFamily="34" charset="0"/>
                <a:cs typeface="Arial" panose="020B0604020202020204" pitchFamily="34" charset="0"/>
              </a:rPr>
              <a:t>= 716.596 - 0.423 </a:t>
            </a:r>
            <a:r>
              <a:rPr lang="en-US" sz="1800" b="1" kern="100" dirty="0">
                <a:effectLst/>
                <a:latin typeface="Calibri" panose="020F0502020204030204" pitchFamily="34" charset="0"/>
                <a:ea typeface="Calibri" panose="020F0502020204030204" pitchFamily="34" charset="0"/>
                <a:cs typeface="Arial" panose="020B0604020202020204" pitchFamily="34" charset="0"/>
              </a:rPr>
              <a:t>special</a:t>
            </a:r>
            <a:r>
              <a:rPr lang="en-US" sz="1800" kern="100" dirty="0">
                <a:effectLst/>
                <a:latin typeface="Calibri" panose="020F0502020204030204" pitchFamily="34" charset="0"/>
                <a:ea typeface="Calibri" panose="020F0502020204030204" pitchFamily="34" charset="0"/>
                <a:cs typeface="Arial" panose="020B0604020202020204" pitchFamily="34" charset="0"/>
              </a:rPr>
              <a:t> - 0.478 </a:t>
            </a:r>
            <a:r>
              <a:rPr lang="en-US" sz="1800" b="1" kern="100" dirty="0">
                <a:effectLst/>
                <a:latin typeface="Calibri" panose="020F0502020204030204" pitchFamily="34" charset="0"/>
                <a:ea typeface="Calibri" panose="020F0502020204030204" pitchFamily="34" charset="0"/>
                <a:cs typeface="Arial" panose="020B0604020202020204" pitchFamily="34" charset="0"/>
              </a:rPr>
              <a:t>free</a:t>
            </a:r>
            <a:r>
              <a:rPr lang="en-US" sz="1800" kern="100" dirty="0">
                <a:effectLst/>
                <a:latin typeface="Calibri" panose="020F0502020204030204" pitchFamily="34" charset="0"/>
                <a:ea typeface="Calibri" panose="020F0502020204030204" pitchFamily="34" charset="0"/>
                <a:cs typeface="Arial" panose="020B0604020202020204" pitchFamily="34" charset="0"/>
              </a:rPr>
              <a:t>  - 0.675 </a:t>
            </a:r>
            <a:r>
              <a:rPr lang="en-US" sz="1800" b="1" kern="100" dirty="0" err="1">
                <a:effectLst/>
                <a:latin typeface="Calibri" panose="020F0502020204030204" pitchFamily="34" charset="0"/>
                <a:ea typeface="Calibri" panose="020F0502020204030204" pitchFamily="34" charset="0"/>
                <a:cs typeface="Arial" panose="020B0604020202020204" pitchFamily="34" charset="0"/>
              </a:rPr>
              <a:t>stratio</a:t>
            </a:r>
            <a:r>
              <a:rPr lang="en-US" sz="1800" kern="100" dirty="0">
                <a:effectLst/>
                <a:latin typeface="Calibri" panose="020F0502020204030204" pitchFamily="34" charset="0"/>
                <a:ea typeface="Calibri" panose="020F0502020204030204" pitchFamily="34" charset="0"/>
                <a:cs typeface="Arial" panose="020B0604020202020204" pitchFamily="34" charset="0"/>
              </a:rPr>
              <a:t> - 0.55 </a:t>
            </a:r>
            <a:r>
              <a:rPr lang="en-US" sz="1800" b="1" kern="100" dirty="0" err="1">
                <a:effectLst/>
                <a:latin typeface="Calibri" panose="020F0502020204030204" pitchFamily="34" charset="0"/>
                <a:ea typeface="Calibri" panose="020F0502020204030204" pitchFamily="34" charset="0"/>
                <a:cs typeface="Arial" panose="020B0604020202020204" pitchFamily="34" charset="0"/>
              </a:rPr>
              <a:t>noteng</a:t>
            </a:r>
            <a:r>
              <a:rPr lang="en-US" sz="1800" kern="100" dirty="0">
                <a:effectLst/>
                <a:latin typeface="Calibri" panose="020F0502020204030204" pitchFamily="34" charset="0"/>
                <a:ea typeface="Calibri" panose="020F0502020204030204" pitchFamily="34" charset="0"/>
                <a:cs typeface="Arial" panose="020B0604020202020204" pitchFamily="34" charset="0"/>
              </a:rPr>
              <a:t> + 1.057 </a:t>
            </a:r>
            <a:r>
              <a:rPr lang="en-US" sz="1800" b="1" kern="100" dirty="0">
                <a:effectLst/>
                <a:latin typeface="Calibri" panose="020F0502020204030204" pitchFamily="34" charset="0"/>
                <a:ea typeface="Calibri" panose="020F0502020204030204" pitchFamily="34" charset="0"/>
                <a:cs typeface="Arial" panose="020B0604020202020204" pitchFamily="34" charset="0"/>
              </a:rPr>
              <a:t>income</a:t>
            </a:r>
            <a:r>
              <a:rPr lang="en-US" sz="1800" kern="100" dirty="0">
                <a:effectLst/>
                <a:latin typeface="Calibri" panose="020F0502020204030204" pitchFamily="34" charset="0"/>
                <a:ea typeface="Calibri" panose="020F0502020204030204" pitchFamily="34" charset="0"/>
                <a:cs typeface="Arial" panose="020B0604020202020204" pitchFamily="34" charset="0"/>
              </a:rPr>
              <a:t> </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ctr">
              <a:spcBef>
                <a:spcPts val="0"/>
              </a:spcBef>
              <a:spcAft>
                <a:spcPts val="800"/>
              </a:spcAft>
            </a:pPr>
            <a:r>
              <a:rPr lang="en-US" sz="1800" b="1" kern="100" dirty="0">
                <a:effectLst/>
                <a:latin typeface="Calibri" panose="020F0502020204030204" pitchFamily="34" charset="0"/>
                <a:ea typeface="Times New Roman" panose="02020603050405020304" pitchFamily="18" charset="0"/>
                <a:cs typeface="Arial" panose="020B0604020202020204" pitchFamily="34" charset="0"/>
              </a:rPr>
              <a:t>  </a:t>
            </a:r>
            <a:r>
              <a:rPr lang="en-US" sz="1800" b="1" kern="100" dirty="0">
                <a:effectLst/>
                <a:latin typeface="Calibri" panose="020F0502020204030204" pitchFamily="34" charset="0"/>
                <a:ea typeface="Calibri" panose="020F0502020204030204" pitchFamily="34" charset="0"/>
                <a:cs typeface="Arial" panose="020B0604020202020204" pitchFamily="34" charset="0"/>
              </a:rPr>
              <a:t>score2 </a:t>
            </a:r>
            <a:r>
              <a:rPr lang="en-US" sz="1800" kern="100" dirty="0">
                <a:effectLst/>
                <a:latin typeface="Calibri" panose="020F0502020204030204" pitchFamily="34" charset="0"/>
                <a:ea typeface="Calibri" panose="020F0502020204030204" pitchFamily="34" charset="0"/>
                <a:cs typeface="Arial" panose="020B0604020202020204" pitchFamily="34" charset="0"/>
              </a:rPr>
              <a:t>= 676.930 + 1.799 </a:t>
            </a:r>
            <a:r>
              <a:rPr lang="en-US" sz="1800" b="1" kern="100" dirty="0">
                <a:effectLst/>
                <a:latin typeface="Calibri" panose="020F0502020204030204" pitchFamily="34" charset="0"/>
                <a:ea typeface="Calibri" panose="020F0502020204030204" pitchFamily="34" charset="0"/>
                <a:cs typeface="Arial" panose="020B0604020202020204" pitchFamily="34" charset="0"/>
              </a:rPr>
              <a:t>income</a:t>
            </a:r>
            <a:r>
              <a:rPr lang="en-US" sz="1800" kern="100" dirty="0">
                <a:effectLst/>
                <a:latin typeface="Calibri" panose="020F0502020204030204" pitchFamily="34" charset="0"/>
                <a:ea typeface="Calibri" panose="020F0502020204030204" pitchFamily="34" charset="0"/>
                <a:cs typeface="Arial" panose="020B0604020202020204" pitchFamily="34" charset="0"/>
              </a:rPr>
              <a:t> - 0.738 </a:t>
            </a:r>
            <a:r>
              <a:rPr lang="en-US" sz="1800" b="1" kern="100" dirty="0">
                <a:effectLst/>
                <a:latin typeface="Calibri" panose="020F0502020204030204" pitchFamily="34" charset="0"/>
                <a:ea typeface="Calibri" panose="020F0502020204030204" pitchFamily="34" charset="0"/>
                <a:cs typeface="Arial" panose="020B0604020202020204" pitchFamily="34" charset="0"/>
              </a:rPr>
              <a:t>free</a:t>
            </a:r>
            <a:r>
              <a:rPr lang="en-US" sz="1800" kern="100" dirty="0">
                <a:effectLst/>
                <a:latin typeface="Calibri" panose="020F0502020204030204" pitchFamily="34" charset="0"/>
                <a:ea typeface="Calibri" panose="020F0502020204030204" pitchFamily="34" charset="0"/>
                <a:cs typeface="Arial" panose="020B0604020202020204" pitchFamily="34" charset="0"/>
              </a:rPr>
              <a:t> </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algn="ctr"/>
            <a:endParaRPr lang="en-GB" dirty="0"/>
          </a:p>
        </p:txBody>
      </p:sp>
      <p:sp>
        <p:nvSpPr>
          <p:cNvPr id="6" name="TextBox 5">
            <a:extLst>
              <a:ext uri="{FF2B5EF4-FFF2-40B4-BE49-F238E27FC236}">
                <a16:creationId xmlns:a16="http://schemas.microsoft.com/office/drawing/2014/main" id="{F0DE2568-C0CC-24E3-284B-7E98277B7920}"/>
              </a:ext>
            </a:extLst>
          </p:cNvPr>
          <p:cNvSpPr txBox="1"/>
          <p:nvPr/>
        </p:nvSpPr>
        <p:spPr>
          <a:xfrm>
            <a:off x="816542" y="1093071"/>
            <a:ext cx="10558913" cy="1200329"/>
          </a:xfrm>
          <a:prstGeom prst="rect">
            <a:avLst/>
          </a:prstGeom>
          <a:noFill/>
        </p:spPr>
        <p:txBody>
          <a:bodyPr wrap="square" rtlCol="0">
            <a:spAutoFit/>
          </a:bodyPr>
          <a:lstStyle/>
          <a:p>
            <a:pPr algn="just"/>
            <a:r>
              <a:rPr lang="en-US" sz="1800" kern="100" dirty="0">
                <a:effectLst/>
                <a:latin typeface="Calibri" panose="020F0502020204030204" pitchFamily="34" charset="0"/>
                <a:ea typeface="Calibri" panose="020F0502020204030204" pitchFamily="34" charset="0"/>
                <a:cs typeface="Arial" panose="020B0604020202020204" pitchFamily="34" charset="0"/>
              </a:rPr>
              <a:t>This report is to answer the inquiry of the Prime Minister to review the allocation of the budget for the schools in Ireland, in particular we investigated how current budget allocation has been influenced student performance and suggested improvements to boost student achievements.</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GB" dirty="0"/>
          </a:p>
        </p:txBody>
      </p:sp>
      <p:sp>
        <p:nvSpPr>
          <p:cNvPr id="7" name="TextBox 6">
            <a:extLst>
              <a:ext uri="{FF2B5EF4-FFF2-40B4-BE49-F238E27FC236}">
                <a16:creationId xmlns:a16="http://schemas.microsoft.com/office/drawing/2014/main" id="{0D9F3CCD-13B1-66DC-976D-33B048027350}"/>
              </a:ext>
            </a:extLst>
          </p:cNvPr>
          <p:cNvSpPr txBox="1"/>
          <p:nvPr/>
        </p:nvSpPr>
        <p:spPr>
          <a:xfrm>
            <a:off x="7515914" y="5920739"/>
            <a:ext cx="4926330" cy="646331"/>
          </a:xfrm>
          <a:prstGeom prst="rect">
            <a:avLst/>
          </a:prstGeom>
          <a:noFill/>
        </p:spPr>
        <p:txBody>
          <a:bodyPr wrap="square" rtlCol="0">
            <a:spAutoFit/>
          </a:bodyPr>
          <a:lstStyle/>
          <a:p>
            <a:r>
              <a:rPr lang="en-US" dirty="0"/>
              <a:t>MAPE (score 1) = 1.1% very high forecast ability</a:t>
            </a:r>
          </a:p>
          <a:p>
            <a:r>
              <a:rPr lang="en-US" dirty="0"/>
              <a:t>MAPE (score 2) = 1.6% very high forecast ability</a:t>
            </a:r>
            <a:endParaRPr lang="en-GB" dirty="0"/>
          </a:p>
        </p:txBody>
      </p:sp>
      <p:sp>
        <p:nvSpPr>
          <p:cNvPr id="9" name="TextBox 8">
            <a:extLst>
              <a:ext uri="{FF2B5EF4-FFF2-40B4-BE49-F238E27FC236}">
                <a16:creationId xmlns:a16="http://schemas.microsoft.com/office/drawing/2014/main" id="{80C67954-CA45-5711-7D86-B69764F9BF33}"/>
              </a:ext>
            </a:extLst>
          </p:cNvPr>
          <p:cNvSpPr txBox="1"/>
          <p:nvPr/>
        </p:nvSpPr>
        <p:spPr>
          <a:xfrm>
            <a:off x="284681" y="3537900"/>
            <a:ext cx="6971351" cy="3053465"/>
          </a:xfrm>
          <a:prstGeom prst="rect">
            <a:avLst/>
          </a:prstGeom>
          <a:noFill/>
        </p:spPr>
        <p:txBody>
          <a:bodyPr wrap="square">
            <a:spAutoFit/>
          </a:bodyPr>
          <a:lstStyle/>
          <a:p>
            <a:pPr marL="0" marR="0" algn="ctr">
              <a:lnSpc>
                <a:spcPct val="107000"/>
              </a:lnSpc>
              <a:spcBef>
                <a:spcPts val="0"/>
              </a:spcBef>
              <a:spcAft>
                <a:spcPts val="800"/>
              </a:spcAft>
            </a:pPr>
            <a:r>
              <a:rPr lang="en-US" sz="1400" b="1" kern="100" dirty="0">
                <a:effectLst/>
                <a:latin typeface="Calibri" panose="020F0502020204030204" pitchFamily="34" charset="0"/>
                <a:ea typeface="Calibri" panose="020F0502020204030204" pitchFamily="34" charset="0"/>
                <a:cs typeface="Arial" panose="020B0604020202020204" pitchFamily="34" charset="0"/>
              </a:rPr>
              <a:t>Summary of the results</a:t>
            </a:r>
          </a:p>
          <a:p>
            <a:pPr marL="0" marR="0" algn="just">
              <a:lnSpc>
                <a:spcPct val="107000"/>
              </a:lnSpc>
              <a:spcBef>
                <a:spcPts val="0"/>
              </a:spcBef>
              <a:spcAft>
                <a:spcPts val="80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The result of the statistical analysis </a:t>
            </a:r>
            <a:r>
              <a:rPr lang="en-US" sz="1400" kern="100" dirty="0" err="1">
                <a:effectLst/>
                <a:latin typeface="Calibri" panose="020F0502020204030204" pitchFamily="34" charset="0"/>
                <a:ea typeface="Calibri" panose="020F0502020204030204" pitchFamily="34" charset="0"/>
                <a:cs typeface="Arial" panose="020B0604020202020204" pitchFamily="34" charset="0"/>
              </a:rPr>
              <a:t>analysed</a:t>
            </a:r>
            <a:r>
              <a:rPr lang="en-US" sz="1400" kern="100" dirty="0">
                <a:effectLst/>
                <a:latin typeface="Calibri" panose="020F0502020204030204" pitchFamily="34" charset="0"/>
                <a:ea typeface="Calibri" panose="020F0502020204030204" pitchFamily="34" charset="0"/>
                <a:cs typeface="Arial" panose="020B0604020202020204" pitchFamily="34" charset="0"/>
              </a:rPr>
              <a:t> two separate models, one </a:t>
            </a:r>
            <a:r>
              <a:rPr lang="en-US" sz="1400" kern="100" dirty="0" err="1">
                <a:effectLst/>
                <a:latin typeface="Calibri" panose="020F0502020204030204" pitchFamily="34" charset="0"/>
                <a:ea typeface="Calibri" panose="020F0502020204030204" pitchFamily="34" charset="0"/>
                <a:cs typeface="Arial" panose="020B0604020202020204" pitchFamily="34" charset="0"/>
              </a:rPr>
              <a:t>analysing</a:t>
            </a:r>
            <a:r>
              <a:rPr lang="en-US" sz="1400" kern="100" dirty="0">
                <a:effectLst/>
                <a:latin typeface="Calibri" panose="020F0502020204030204" pitchFamily="34" charset="0"/>
                <a:ea typeface="Calibri" panose="020F0502020204030204" pitchFamily="34" charset="0"/>
                <a:cs typeface="Arial" panose="020B0604020202020204" pitchFamily="34" charset="0"/>
              </a:rPr>
              <a:t> the scores of 11 years old students and the other one </a:t>
            </a:r>
            <a:r>
              <a:rPr lang="en-US" sz="1400" kern="100" dirty="0" err="1">
                <a:effectLst/>
                <a:latin typeface="Calibri" panose="020F0502020204030204" pitchFamily="34" charset="0"/>
                <a:ea typeface="Calibri" panose="020F0502020204030204" pitchFamily="34" charset="0"/>
                <a:cs typeface="Arial" panose="020B0604020202020204" pitchFamily="34" charset="0"/>
              </a:rPr>
              <a:t>analysing</a:t>
            </a:r>
            <a:r>
              <a:rPr lang="en-US" sz="1400" kern="100" dirty="0">
                <a:effectLst/>
                <a:latin typeface="Calibri" panose="020F0502020204030204" pitchFamily="34" charset="0"/>
                <a:ea typeface="Calibri" panose="020F0502020204030204" pitchFamily="34" charset="0"/>
                <a:cs typeface="Arial" panose="020B0604020202020204" pitchFamily="34" charset="0"/>
              </a:rPr>
              <a:t> the score of 16 year old students. Those results highlight that the most influent predictors that explains both the scores is the income of the school per students. It means that schools that have more money to invest per student have a high average value for both the scores. The amount of students eligible for free lunch is indicative of the presence of economically disadvantaged students in the school. This has a negative influence on the scores. Budget that is allocated for computers and teachers stipends doesn’t have a statistical influence on the scores.</a:t>
            </a:r>
            <a:endParaRPr lang="en-GB"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In summary it would be advisable to redistribute the budget, in the form of investing more of it into schools with a low income per student. This money can potentially be financed by a lowering in teacher’s stipends and from a reduced investment on computers.</a:t>
            </a:r>
            <a:endParaRPr lang="en-GB" sz="14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Picture 10" descr="A graph with blue and yellow dots&#10;&#10;Description automatically generated">
            <a:extLst>
              <a:ext uri="{FF2B5EF4-FFF2-40B4-BE49-F238E27FC236}">
                <a16:creationId xmlns:a16="http://schemas.microsoft.com/office/drawing/2014/main" id="{4E795BFC-47D6-3C0A-A2FA-77C854CCF9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1925" y="3438778"/>
            <a:ext cx="2490730" cy="2490730"/>
          </a:xfrm>
          <a:prstGeom prst="rect">
            <a:avLst/>
          </a:prstGeom>
        </p:spPr>
      </p:pic>
      <p:pic>
        <p:nvPicPr>
          <p:cNvPr id="13" name="Picture 12" descr="A graph with blue and yellow dots&#10;&#10;Description automatically generated">
            <a:extLst>
              <a:ext uri="{FF2B5EF4-FFF2-40B4-BE49-F238E27FC236}">
                <a16:creationId xmlns:a16="http://schemas.microsoft.com/office/drawing/2014/main" id="{80AC9D73-F9F1-BA96-4D62-1F537385A4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3020" y="3405000"/>
            <a:ext cx="2538980" cy="2538980"/>
          </a:xfrm>
          <a:prstGeom prst="rect">
            <a:avLst/>
          </a:prstGeom>
        </p:spPr>
      </p:pic>
    </p:spTree>
    <p:extLst>
      <p:ext uri="{BB962C8B-B14F-4D97-AF65-F5344CB8AC3E}">
        <p14:creationId xmlns:p14="http://schemas.microsoft.com/office/powerpoint/2010/main" val="3373501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499</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Cambria Math</vt:lpstr>
      <vt:lpstr>Office Theme</vt:lpstr>
      <vt:lpstr>ST8003 Linear Regression, 2023-24  Final Project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Lorenzo Pedrini</dc:creator>
  <cp:lastModifiedBy>Lorenzo Pedrini</cp:lastModifiedBy>
  <cp:revision>2</cp:revision>
  <dcterms:created xsi:type="dcterms:W3CDTF">2024-04-14T23:18:34Z</dcterms:created>
  <dcterms:modified xsi:type="dcterms:W3CDTF">2024-04-14T23:42:38Z</dcterms:modified>
</cp:coreProperties>
</file>